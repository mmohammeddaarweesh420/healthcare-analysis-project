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9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976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4D7A">
                  <a:alpha val="85000"/>
                </a:srgbClr>
              </a:gs>
              <a:gs pos="100000">
                <a:srgbClr val="008080">
                  <a:alpha val="8500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49730" y="1200905"/>
            <a:ext cx="4892238" cy="68429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950"/>
              </a:spcAft>
            </a:pPr>
            <a:r>
              <a:rPr lang="en-US" sz="3588" b="1" dirty="0">
                <a:solidFill>
                  <a:srgbClr val="FFFFFF"/>
                </a:solidFill>
              </a:rPr>
              <a:t>Healthcare </a:t>
            </a:r>
            <a:r>
              <a:rPr sz="3588" b="1" dirty="0">
                <a:solidFill>
                  <a:srgbClr val="FFFFFF"/>
                </a:solidFill>
              </a:rP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8419" y="2514600"/>
            <a:ext cx="571485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250"/>
              </a:spcAft>
            </a:pPr>
            <a:r>
              <a:rPr sz="1674" b="0">
                <a:solidFill>
                  <a:srgbClr val="E0F2F1"/>
                </a:solidFill>
              </a:rPr>
              <a:t>Comprehensive Healthcare Dataset Analysis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457" y="3524250"/>
            <a:ext cx="2666933" cy="1914525"/>
          </a:xfrm>
          <a:prstGeom prst="roundRect">
            <a:avLst>
              <a:gd name="adj" fmla="val 1194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52576" y="3752849"/>
            <a:ext cx="219069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4D7A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4D7A"/>
                </a:solidFill>
              </a:rPr>
              <a:t> Objectives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576" y="3773142"/>
            <a:ext cx="266693" cy="226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52576" y="4171950"/>
            <a:ext cx="2190695" cy="10287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Understanding healthcare patterns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Analyzing costs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Extracting actionable insights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62380" y="3524250"/>
            <a:ext cx="2666933" cy="1914525"/>
          </a:xfrm>
          <a:prstGeom prst="roundRect">
            <a:avLst>
              <a:gd name="adj" fmla="val 1194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499" y="3752849"/>
            <a:ext cx="219069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4D7A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4D7A"/>
                </a:solidFill>
              </a:rPr>
              <a:t> Tools Used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0499" y="3781839"/>
            <a:ext cx="266693" cy="2087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00499" y="4171950"/>
            <a:ext cx="2190695" cy="10287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Python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SQL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Streamlit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Power BI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0304" y="3524250"/>
            <a:ext cx="2666933" cy="1914525"/>
          </a:xfrm>
          <a:prstGeom prst="roundRect">
            <a:avLst>
              <a:gd name="adj" fmla="val 11940"/>
            </a:avLst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8423" y="3752849"/>
            <a:ext cx="219069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4D7A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4D7A"/>
                </a:solidFill>
              </a:rPr>
              <a:t> Target Audience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8423" y="3802131"/>
            <a:ext cx="266693" cy="1681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48423" y="4171950"/>
            <a:ext cx="2190695" cy="10287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Healthcare data analysts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Hospital managers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Academic research teams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Healthcare policy makers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604" y="190499"/>
            <a:ext cx="245738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Data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10858228" cy="1190625"/>
          </a:xfrm>
          <a:prstGeom prst="roundRect">
            <a:avLst>
              <a:gd name="adj" fmla="val 19200"/>
            </a:avLst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4852" y="1502093"/>
            <a:ext cx="1539139" cy="66293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88" b="1" dirty="0">
                <a:solidFill>
                  <a:srgbClr val="008080"/>
                </a:solidFill>
              </a:rPr>
              <a:t>5</a:t>
            </a:r>
            <a:r>
              <a:rPr lang="en-US" sz="3588" b="1" dirty="0">
                <a:solidFill>
                  <a:srgbClr val="008080"/>
                </a:solidFill>
              </a:rPr>
              <a:t>5</a:t>
            </a:r>
            <a:r>
              <a:rPr sz="3588" b="1" dirty="0">
                <a:solidFill>
                  <a:srgbClr val="008080"/>
                </a:solidFill>
              </a:rPr>
              <a:t>00</a:t>
            </a:r>
            <a:r>
              <a:rPr lang="en-US" sz="3588" b="1" dirty="0">
                <a:solidFill>
                  <a:srgbClr val="008080"/>
                </a:solidFill>
              </a:rPr>
              <a:t>0</a:t>
            </a:r>
            <a:r>
              <a:rPr sz="3588" b="1" dirty="0">
                <a:solidFill>
                  <a:srgbClr val="008080"/>
                </a:solidFill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3565" y="1708750"/>
            <a:ext cx="136204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0" dirty="0">
                <a:solidFill>
                  <a:srgbClr val="2C3E50"/>
                </a:solidFill>
              </a:rPr>
              <a:t>Patient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2714625"/>
            <a:ext cx="5333866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7228" y="2905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8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0099" y="3088821"/>
            <a:ext cx="285742" cy="2041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71585" y="2952750"/>
            <a:ext cx="1543011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004D7A"/>
                </a:solidFill>
              </a:rPr>
              <a:t>Demographics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585" y="3238500"/>
            <a:ext cx="154301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46E7A"/>
                </a:solidFill>
              </a:rPr>
              <a:t>Age, Gender, Blood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095" y="2714625"/>
            <a:ext cx="5333866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81590" y="2905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8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461" y="3080073"/>
            <a:ext cx="285742" cy="2216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95947" y="2952750"/>
            <a:ext cx="197162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004D7A"/>
                </a:solidFill>
              </a:rPr>
              <a:t>Medical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947" y="3238500"/>
            <a:ext cx="197162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46E7A"/>
                </a:solidFill>
              </a:rPr>
              <a:t>Medical Condition, Test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3857625"/>
            <a:ext cx="5333866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7228" y="4048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8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099" y="4211410"/>
            <a:ext cx="285742" cy="244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71585" y="4095749"/>
            <a:ext cx="1971625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 dirty="0">
                <a:solidFill>
                  <a:srgbClr val="004D7A"/>
                </a:solidFill>
              </a:rPr>
              <a:t>Admission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1585" y="4381499"/>
            <a:ext cx="1971625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 dirty="0">
                <a:solidFill>
                  <a:srgbClr val="546E7A"/>
                </a:solidFill>
              </a:rPr>
              <a:t>Admission Type, Length of Stay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1095" y="3857625"/>
            <a:ext cx="5333866" cy="952499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81590" y="4048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8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4461" y="4231821"/>
            <a:ext cx="285742" cy="2041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95947" y="4095749"/>
            <a:ext cx="1609684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004D7A"/>
                </a:solidFill>
              </a:rPr>
              <a:t>Financial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947" y="4381499"/>
            <a:ext cx="160968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46E7A"/>
                </a:solidFill>
              </a:rPr>
              <a:t>Cost, Insurance Providers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5105499"/>
            <a:ext cx="10858228" cy="1047749"/>
          </a:xfrm>
          <a:prstGeom prst="roundRect">
            <a:avLst>
              <a:gd name="adj" fmla="val 21818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4852" y="533400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7723" y="5497285"/>
            <a:ext cx="285742" cy="2449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19209" y="5476875"/>
            <a:ext cx="7295967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 Data is </a:t>
            </a:r>
            <a:r>
              <a:rPr sz="1196" b="1" dirty="0">
                <a:solidFill>
                  <a:srgbClr val="004D7A"/>
                </a:solidFill>
              </a:rPr>
              <a:t>processed and normalized</a:t>
            </a:r>
            <a:r>
              <a:rPr sz="1196" b="0" dirty="0">
                <a:solidFill>
                  <a:srgbClr val="2C3E50"/>
                </a:solidFill>
              </a:rPr>
              <a:t> (Normalized, Encoded, Scaled) to ensure analysis quality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24624"/>
            <a:ext cx="12191695" cy="476249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604" y="190499"/>
            <a:ext cx="519099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Basic Visualizations (from SQL)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5286242" cy="635317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6733" y="1238249"/>
            <a:ext cx="5286242" cy="55245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443037"/>
            <a:ext cx="228594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070" y="1381124"/>
            <a:ext cx="314317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8080"/>
                </a:solidFill>
              </a:rPr>
              <a:t>Distribution of Medical Conditions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28" y="1981199"/>
            <a:ext cx="4905252" cy="838200"/>
          </a:xfrm>
          <a:prstGeom prst="roundRect">
            <a:avLst>
              <a:gd name="adj" fmla="val 18181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228" y="1981199"/>
            <a:ext cx="4905252" cy="838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2E7D32"/>
                </a:solidFill>
              </a:rPr>
              <a:t>SELECT medical_condition, COUNT(*) AS patient_count FROM healthcare_dataset GROUP BY medical_condition ORDER BY patient_count DESC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2962274"/>
            <a:ext cx="4905252" cy="344804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7228" y="6600825"/>
            <a:ext cx="4905252" cy="800100"/>
          </a:xfrm>
          <a:prstGeom prst="roundRect">
            <a:avLst>
              <a:gd name="adj" fmla="val 1904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0099" y="67437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8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298" y="683704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23961" y="6743700"/>
            <a:ext cx="4095647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</a:t>
            </a:r>
            <a:r>
              <a:rPr sz="1076" b="1">
                <a:solidFill>
                  <a:srgbClr val="004D7A"/>
                </a:solidFill>
              </a:rPr>
              <a:t>Cancer</a:t>
            </a:r>
            <a:r>
              <a:rPr sz="1076" b="0">
                <a:solidFill>
                  <a:srgbClr val="2C3E50"/>
                </a:solidFill>
              </a:rPr>
              <a:t> is most common (25% of cases), followed by </a:t>
            </a:r>
            <a:r>
              <a:rPr sz="1076" b="1">
                <a:solidFill>
                  <a:srgbClr val="004D7A"/>
                </a:solidFill>
              </a:rPr>
              <a:t>Diabetes</a:t>
            </a:r>
            <a:r>
              <a:rPr sz="1076" b="0">
                <a:solidFill>
                  <a:srgbClr val="2C3E50"/>
                </a:solidFill>
              </a:rPr>
              <a:t> (20% of cases).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719" y="1238249"/>
            <a:ext cx="5286242" cy="6353174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8719" y="1238249"/>
            <a:ext cx="5286242" cy="552450"/>
          </a:xfrm>
          <a:prstGeom prst="rect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9214" y="1427321"/>
            <a:ext cx="228594" cy="1743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3056" y="1381124"/>
            <a:ext cx="415279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8080"/>
                </a:solidFill>
              </a:rPr>
              <a:t>Relationship Between Age and Length of Stay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9214" y="1981199"/>
            <a:ext cx="4905252" cy="1904999"/>
          </a:xfrm>
          <a:prstGeom prst="roundRect">
            <a:avLst>
              <a:gd name="adj" fmla="val 8000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9214" y="1981199"/>
            <a:ext cx="4905252" cy="1904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2E7D32"/>
                </a:solidFill>
              </a:rPr>
              <a:t>SELECT CASE WHEN age &lt; 30 THEN 'Under 30' WHEN age BETWEEN 30 AND 50 THEN '30-50' WHEN age BETWEEN 51 AND 70 THEN '51-70' ELSE 'Over 70' END AS age_group, AVG(length_of_stay) AS avg_stay FROM healthcare_dataset GROUP BY age_group ORDER BY age_group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9214" y="4029075"/>
            <a:ext cx="4905252" cy="238125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429214" y="6600825"/>
            <a:ext cx="4905252" cy="800100"/>
          </a:xfrm>
          <a:prstGeom prst="roundRect">
            <a:avLst>
              <a:gd name="adj" fmla="val 1904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72085" y="67437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8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6837045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95947" y="6743700"/>
            <a:ext cx="4095647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Patients over </a:t>
            </a:r>
            <a:r>
              <a:rPr sz="1076" b="1">
                <a:solidFill>
                  <a:srgbClr val="004D7A"/>
                </a:solidFill>
              </a:rPr>
              <a:t>70 years old</a:t>
            </a:r>
            <a:r>
              <a:rPr sz="1076" b="0">
                <a:solidFill>
                  <a:srgbClr val="2C3E50"/>
                </a:solidFill>
              </a:rPr>
              <a:t> stay longer in hospital (average </a:t>
            </a:r>
            <a:r>
              <a:rPr sz="1076" b="1">
                <a:solidFill>
                  <a:srgbClr val="004D7A"/>
                </a:solidFill>
              </a:rPr>
              <a:t>25 days</a:t>
            </a:r>
            <a:r>
              <a:rPr sz="1076" b="0">
                <a:solidFill>
                  <a:srgbClr val="2C3E50"/>
                </a:solidFill>
              </a:rPr>
              <a:t>).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7972425"/>
            <a:ext cx="12191695" cy="476249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604" y="190499"/>
            <a:ext cx="4752856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Cost and Treatment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5286242" cy="66770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6733" y="1238249"/>
            <a:ext cx="5286242" cy="5524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431607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070" y="1381124"/>
            <a:ext cx="3352716" cy="3131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 dirty="0">
                <a:solidFill>
                  <a:srgbClr val="004D7A"/>
                </a:solidFill>
              </a:rPr>
              <a:t>Average Billing by Medical Condition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28" y="1981199"/>
            <a:ext cx="4905252" cy="981074"/>
          </a:xfrm>
          <a:prstGeom prst="roundRect">
            <a:avLst>
              <a:gd name="adj" fmla="val 15533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228" y="1981199"/>
            <a:ext cx="4905252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2E7D32"/>
                </a:solidFill>
              </a:rPr>
              <a:t>SELECT medical_condition, AVG(billing_amount) AS avg_billing FROM healthcare_dataset GROUP BY medical_condition ORDER BY avg_billing DESC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3105149"/>
            <a:ext cx="4905252" cy="36290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7228" y="6924674"/>
            <a:ext cx="4905252" cy="800100"/>
          </a:xfrm>
          <a:prstGeom prst="roundRect">
            <a:avLst>
              <a:gd name="adj" fmla="val 1904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0099" y="70675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298" y="7160894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23961" y="7067549"/>
            <a:ext cx="2619309" cy="5511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Highest billing: </a:t>
            </a:r>
            <a:r>
              <a:rPr sz="1076" b="1">
                <a:solidFill>
                  <a:srgbClr val="004D7A"/>
                </a:solidFill>
              </a:rPr>
              <a:t>Cancer</a:t>
            </a:r>
            <a:r>
              <a:rPr sz="1076" b="0">
                <a:solidFill>
                  <a:srgbClr val="2C3E50"/>
                </a:solidFill>
              </a:rPr>
              <a:t> (avg $35,000) 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Lowest billing: </a:t>
            </a:r>
            <a:r>
              <a:rPr sz="1076" b="1">
                <a:solidFill>
                  <a:srgbClr val="004D7A"/>
                </a:solidFill>
              </a:rPr>
              <a:t>Asthma</a:t>
            </a:r>
            <a:r>
              <a:rPr sz="1076" b="0">
                <a:solidFill>
                  <a:srgbClr val="2C3E50"/>
                </a:solidFill>
              </a:rPr>
              <a:t> (avg $15,000)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719" y="1238249"/>
            <a:ext cx="5286242" cy="667702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8719" y="1238249"/>
            <a:ext cx="5286242" cy="5524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9214" y="1425892"/>
            <a:ext cx="228594" cy="177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53056" y="1381124"/>
            <a:ext cx="4228994" cy="3131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4D7A"/>
                </a:solidFill>
              </a:rPr>
              <a:t>Most Common Medications for Each Condition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9214" y="1981199"/>
            <a:ext cx="4905252" cy="981074"/>
          </a:xfrm>
          <a:prstGeom prst="roundRect">
            <a:avLst>
              <a:gd name="adj" fmla="val 15533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9214" y="1981199"/>
            <a:ext cx="4905252" cy="3684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2E7D32"/>
                </a:solidFill>
              </a:rPr>
              <a:t>SELECT medical_condition, medication, COUNT(*) AS usage_count FROM healthcare_dataset GROUP BY medical_condition, medication ORDER BY medical_condition, usage_count DESC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9214" y="3105149"/>
            <a:ext cx="4905252" cy="238125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429214" y="5676900"/>
            <a:ext cx="4905252" cy="666750"/>
          </a:xfrm>
          <a:prstGeom prst="roundRect">
            <a:avLst>
              <a:gd name="adj" fmla="val 2285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72085" y="58197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5913119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95947" y="5819775"/>
            <a:ext cx="3228894" cy="32034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</a:t>
            </a:r>
            <a:r>
              <a:rPr sz="1076" b="1">
                <a:solidFill>
                  <a:srgbClr val="004D7A"/>
                </a:solidFill>
              </a:rPr>
              <a:t>Paracetamol</a:t>
            </a:r>
            <a:r>
              <a:rPr sz="1076" b="0">
                <a:solidFill>
                  <a:srgbClr val="2C3E50"/>
                </a:solidFill>
              </a:rPr>
              <a:t> is most used in most conditions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9214" y="6438899"/>
            <a:ext cx="2381190" cy="571500"/>
          </a:xfrm>
          <a:prstGeom prst="roundRect">
            <a:avLst>
              <a:gd name="adj" fmla="val 2666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24461" y="6553199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00659" y="6642006"/>
            <a:ext cx="190495" cy="16528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62600" y="6534150"/>
            <a:ext cx="1752556" cy="40498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 </a:t>
            </a:r>
            <a:r>
              <a:rPr sz="956" b="1">
                <a:solidFill>
                  <a:srgbClr val="004D7A"/>
                </a:solidFill>
              </a:rPr>
              <a:t>Paracetamol</a:t>
            </a:r>
            <a:r>
              <a:rPr sz="956" b="0">
                <a:solidFill>
                  <a:srgbClr val="2C3E50"/>
                </a:solidFill>
              </a:rPr>
              <a:t> - 40% of prescriptions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3276" y="6438899"/>
            <a:ext cx="2381190" cy="571500"/>
          </a:xfrm>
          <a:prstGeom prst="roundRect">
            <a:avLst>
              <a:gd name="adj" fmla="val 2666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048523" y="6553199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24721" y="6642006"/>
            <a:ext cx="190495" cy="16528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486662" y="6534150"/>
            <a:ext cx="1752556" cy="40498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 </a:t>
            </a:r>
            <a:r>
              <a:rPr sz="956" b="1">
                <a:solidFill>
                  <a:srgbClr val="004D7A"/>
                </a:solidFill>
              </a:rPr>
              <a:t>Ibuprofen</a:t>
            </a:r>
            <a:r>
              <a:rPr sz="956" b="0">
                <a:solidFill>
                  <a:srgbClr val="2C3E50"/>
                </a:solidFill>
              </a:rPr>
              <a:t> - 25% of prescriptions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29214" y="7153274"/>
            <a:ext cx="2381190" cy="571500"/>
          </a:xfrm>
          <a:prstGeom prst="roundRect">
            <a:avLst>
              <a:gd name="adj" fmla="val 2666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524461" y="7267574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00659" y="7356381"/>
            <a:ext cx="190495" cy="16528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962600" y="7248525"/>
            <a:ext cx="175255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 </a:t>
            </a:r>
            <a:r>
              <a:rPr sz="956" b="1">
                <a:solidFill>
                  <a:srgbClr val="004D7A"/>
                </a:solidFill>
              </a:rPr>
              <a:t>Aspirin</a:t>
            </a:r>
            <a:r>
              <a:rPr sz="956" b="0">
                <a:solidFill>
                  <a:srgbClr val="2C3E50"/>
                </a:solidFill>
              </a:rPr>
              <a:t> - 20% of prescriptions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53276" y="7153274"/>
            <a:ext cx="2381190" cy="571500"/>
          </a:xfrm>
          <a:prstGeom prst="roundRect">
            <a:avLst>
              <a:gd name="adj" fmla="val 26666"/>
            </a:avLst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048523" y="7267574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24721" y="7356381"/>
            <a:ext cx="190495" cy="16528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486662" y="7248525"/>
            <a:ext cx="1752556" cy="25789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 </a:t>
            </a:r>
            <a:r>
              <a:rPr sz="956" b="1">
                <a:solidFill>
                  <a:srgbClr val="004D7A"/>
                </a:solidFill>
              </a:rPr>
              <a:t>Penicillin</a:t>
            </a:r>
            <a:r>
              <a:rPr sz="956" b="0">
                <a:solidFill>
                  <a:srgbClr val="2C3E50"/>
                </a:solidFill>
              </a:rPr>
              <a:t> - 15% of prescriptions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8296274"/>
            <a:ext cx="12191695" cy="476249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604" y="190499"/>
            <a:ext cx="3095547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Advanced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5286242" cy="620077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6733" y="1238249"/>
            <a:ext cx="5286242" cy="819149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550670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070" y="1381124"/>
            <a:ext cx="458141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E7D32"/>
                </a:solidFill>
              </a:rPr>
              <a:t>Relationship Between Blood Type and Medical Condition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28" y="2247899"/>
            <a:ext cx="4905252" cy="838200"/>
          </a:xfrm>
          <a:prstGeom prst="roundRect">
            <a:avLst>
              <a:gd name="adj" fmla="val 18181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228" y="2247899"/>
            <a:ext cx="4905252" cy="838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2E7D32"/>
                </a:solidFill>
              </a:rPr>
              <a:t>SELECT blood_type, medical_condition, COUNT(*) AS count FROM healthcare_dataset GROUP BY blood_type, medical_condition ORDER BY count DESC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28" y="3228975"/>
            <a:ext cx="4905252" cy="23812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7228" y="5800725"/>
            <a:ext cx="4905252" cy="800100"/>
          </a:xfrm>
          <a:prstGeom prst="roundRect">
            <a:avLst>
              <a:gd name="adj" fmla="val 1904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0099" y="59436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2E7D3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298" y="603694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23961" y="5943600"/>
            <a:ext cx="3257468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</a:t>
            </a:r>
            <a:r>
              <a:rPr sz="1076" b="1">
                <a:solidFill>
                  <a:srgbClr val="2E7D32"/>
                </a:solidFill>
              </a:rPr>
              <a:t>Blood type A+</a:t>
            </a:r>
            <a:r>
              <a:rPr sz="1076" b="0">
                <a:solidFill>
                  <a:srgbClr val="2C3E50"/>
                </a:solidFill>
              </a:rPr>
              <a:t> often associated with Diabetes </a:t>
            </a:r>
            <a:r>
              <a:rPr sz="1104"/>
              <a:t>
</a:t>
            </a:r>
            <a:r>
              <a:rPr sz="1076" b="0">
                <a:solidFill>
                  <a:srgbClr val="2C3E50"/>
                </a:solidFill>
              </a:rPr>
              <a:t> </a:t>
            </a:r>
            <a:r>
              <a:rPr sz="1076" b="1">
                <a:solidFill>
                  <a:srgbClr val="2E7D32"/>
                </a:solidFill>
              </a:rPr>
              <a:t>Blood type O-</a:t>
            </a:r>
            <a:r>
              <a:rPr sz="1076" b="0">
                <a:solidFill>
                  <a:srgbClr val="2C3E50"/>
                </a:solidFill>
              </a:rPr>
              <a:t> associated with Asthma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228" y="6713219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62020" y="6715125"/>
            <a:ext cx="30002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Blood type A+ appears in 35% of Diabetes cases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228" y="7037070"/>
            <a:ext cx="228594" cy="1943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62020" y="7038974"/>
            <a:ext cx="292410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Blood type O- appears in 40% of Asthma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8719" y="1238249"/>
            <a:ext cx="5286242" cy="6200775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8719" y="1238249"/>
            <a:ext cx="5286242" cy="819149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9214" y="1549241"/>
            <a:ext cx="228594" cy="19716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53056" y="1381124"/>
            <a:ext cx="458141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E7D32"/>
                </a:solidFill>
              </a:rPr>
              <a:t>Relationship Between Admission Type and Test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29214" y="2247899"/>
            <a:ext cx="4905252" cy="838200"/>
          </a:xfrm>
          <a:prstGeom prst="roundRect">
            <a:avLst>
              <a:gd name="adj" fmla="val 18181"/>
            </a:avLst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9214" y="2247899"/>
            <a:ext cx="4905252" cy="838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2E7D32"/>
                </a:solidFill>
              </a:rPr>
              <a:t>SELECT admission_type, test_results, COUNT(*) AS count FROM healthcare_dataset GROUP BY admission_type, test_results ORDER BY admission_type, count DESC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9214" y="3228975"/>
            <a:ext cx="4905252" cy="25146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429214" y="5934075"/>
            <a:ext cx="4905252" cy="666750"/>
          </a:xfrm>
          <a:prstGeom prst="roundRect">
            <a:avLst>
              <a:gd name="adj" fmla="val 22857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72085" y="60769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2E7D3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6170294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095947" y="6076950"/>
            <a:ext cx="3838479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Emergency cases have higher rate of abnormal results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9214" y="6713219"/>
            <a:ext cx="228594" cy="1943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34006" y="6715125"/>
            <a:ext cx="300029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60% of Emergency cases have abnormal results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9214" y="7037070"/>
            <a:ext cx="228594" cy="1943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34006" y="7038974"/>
            <a:ext cx="3114597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Only 25% of Elective cases have abnormal results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7820024"/>
            <a:ext cx="12191695" cy="476249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604" y="190499"/>
            <a:ext cx="6562560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Interactive Visualization with Streamlit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10858228" cy="5838824"/>
          </a:xfrm>
          <a:prstGeom prst="roundRect">
            <a:avLst>
              <a:gd name="adj" fmla="val 391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6733" y="1238249"/>
            <a:ext cx="10858228" cy="55245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7228" y="1381124"/>
            <a:ext cx="23716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4D7A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4D7A"/>
                </a:solidFill>
              </a:rPr>
              <a:t> Interactive Dashboard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425892"/>
            <a:ext cx="228594" cy="1771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7228" y="1981199"/>
            <a:ext cx="5143371" cy="28575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1095" y="1981199"/>
            <a:ext cx="5143371" cy="1666874"/>
          </a:xfrm>
          <a:prstGeom prst="roundRect">
            <a:avLst>
              <a:gd name="adj" fmla="val 914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33966" y="21240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164" y="2251710"/>
            <a:ext cx="228594" cy="1257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7828" y="2124075"/>
            <a:ext cx="433376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4D7A"/>
                </a:solidFill>
              </a:rPr>
              <a:t>Data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7828" y="2390774"/>
            <a:ext cx="43337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46E7A"/>
                </a:solidFill>
              </a:rPr>
              <a:t>Filter data by: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7828" y="2676524"/>
            <a:ext cx="1514437" cy="342900"/>
          </a:xfrm>
          <a:prstGeom prst="roundRect">
            <a:avLst>
              <a:gd name="adj" fmla="val 111111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7828" y="2676524"/>
            <a:ext cx="151443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4D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004D7A"/>
                </a:solidFill>
              </a:rPr>
              <a:t> Medical Condition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0224" y="2788103"/>
            <a:ext cx="152396" cy="11974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515137" y="2676524"/>
            <a:ext cx="704832" cy="342900"/>
          </a:xfrm>
          <a:prstGeom prst="roundRect">
            <a:avLst>
              <a:gd name="adj" fmla="val 111111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15137" y="2676524"/>
            <a:ext cx="70483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4D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004D7A"/>
                </a:solidFill>
              </a:rPr>
              <a:t> Age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67533" y="2790824"/>
            <a:ext cx="152396" cy="1143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9362840" y="2676524"/>
            <a:ext cx="1381090" cy="342900"/>
          </a:xfrm>
          <a:prstGeom prst="roundRect">
            <a:avLst>
              <a:gd name="adj" fmla="val 111111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62840" y="2676524"/>
            <a:ext cx="138109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4D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004D7A"/>
                </a:solidFill>
              </a:rPr>
              <a:t> Admission Type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15237" y="2781300"/>
            <a:ext cx="152396" cy="133349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857828" y="3162299"/>
            <a:ext cx="1552536" cy="342900"/>
          </a:xfrm>
          <a:prstGeom prst="roundRect">
            <a:avLst>
              <a:gd name="adj" fmla="val 111111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7828" y="3162299"/>
            <a:ext cx="155253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4D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004D7A"/>
                </a:solidFill>
              </a:rPr>
              <a:t> Insurance Provider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10224" y="3268435"/>
            <a:ext cx="152396" cy="13062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191095" y="3790949"/>
            <a:ext cx="5143371" cy="1638299"/>
          </a:xfrm>
          <a:prstGeom prst="roundRect">
            <a:avLst>
              <a:gd name="adj" fmla="val 9302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33966" y="39338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10164" y="4038599"/>
            <a:ext cx="228594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7828" y="3933824"/>
            <a:ext cx="433376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4D7A"/>
                </a:solidFill>
              </a:rPr>
              <a:t>Visualization Capabilities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7828" y="4200525"/>
            <a:ext cx="4333766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46E7A"/>
                </a:solidFill>
              </a:rPr>
              <a:t>View: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7828" y="4486275"/>
            <a:ext cx="1381090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372165" y="459105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48363" y="4700867"/>
            <a:ext cx="190495" cy="12326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05472" y="5010149"/>
            <a:ext cx="876278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4D7A"/>
                </a:solidFill>
              </a:rPr>
              <a:t>Dynamic Charts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34166" y="4486275"/>
            <a:ext cx="1381090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848503" y="459105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924701" y="4686860"/>
            <a:ext cx="190495" cy="15127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53236" y="5010149"/>
            <a:ext cx="933426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4D7A"/>
                </a:solidFill>
              </a:rPr>
              <a:t>Summary Tables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0979" y="4486275"/>
            <a:ext cx="1381090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324841" y="459105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401039" y="4681257"/>
            <a:ext cx="190495" cy="162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210544" y="5010149"/>
            <a:ext cx="571485" cy="1714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4D7A"/>
                </a:solidFill>
              </a:rPr>
              <a:t>Heatmaps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1095" y="5572125"/>
            <a:ext cx="5143371" cy="1314450"/>
          </a:xfrm>
          <a:prstGeom prst="roundRect">
            <a:avLst>
              <a:gd name="adj" fmla="val 11594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33966" y="57150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10164" y="5842634"/>
            <a:ext cx="228594" cy="12572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57828" y="5715000"/>
            <a:ext cx="433376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004D7A"/>
                </a:solidFill>
              </a:rPr>
              <a:t>Technical Features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7828" y="5981699"/>
            <a:ext cx="4333766" cy="761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46E7A"/>
                </a:solidFill>
              </a:rPr>
              <a:t> • Real-time data updates</a:t>
            </a:r>
            <a:r>
              <a:rPr sz="1104"/>
              <a:t>
</a:t>
            </a:r>
            <a:r>
              <a:rPr sz="956" b="0">
                <a:solidFill>
                  <a:srgbClr val="546E7A"/>
                </a:solidFill>
              </a:rPr>
              <a:t> • User-friendly interface</a:t>
            </a:r>
            <a:r>
              <a:rPr sz="1104"/>
              <a:t>
</a:t>
            </a:r>
            <a:r>
              <a:rPr sz="956" b="0">
                <a:solidFill>
                  <a:srgbClr val="546E7A"/>
                </a:solidFill>
              </a:rPr>
              <a:t> • Fast response time</a:t>
            </a:r>
            <a:r>
              <a:rPr sz="1104"/>
              <a:t>
</a:t>
            </a:r>
            <a:r>
              <a:rPr sz="956" b="0">
                <a:solidFill>
                  <a:srgbClr val="546E7A"/>
                </a:solidFill>
              </a:rPr>
              <a:t> • Database integration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7458075"/>
            <a:ext cx="12191695" cy="476249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604" y="190499"/>
            <a:ext cx="339081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Power BI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81749"/>
            <a:ext cx="12191695" cy="476249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0" y="6381749"/>
            <a:ext cx="1219169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Comprehensive Healthcare Dataset Analysis with Interactive Dashboards</a:t>
            </a:r>
          </a:p>
        </p:txBody>
      </p:sp>
      <p:pic>
        <p:nvPicPr>
          <p:cNvPr id="27" name="Picture 26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5D7472AB-8F8E-9073-630F-C330CB5AF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36" y="1494554"/>
            <a:ext cx="8071271" cy="452345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48D8F25-4DE0-6D24-A93E-679BA026E96C}"/>
              </a:ext>
            </a:extLst>
          </p:cNvPr>
          <p:cNvSpPr txBox="1"/>
          <p:nvPr/>
        </p:nvSpPr>
        <p:spPr>
          <a:xfrm>
            <a:off x="164783" y="991236"/>
            <a:ext cx="8644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604" y="190499"/>
            <a:ext cx="4600459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Power BI Dashboard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81749"/>
            <a:ext cx="12191695" cy="476249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A screenshot of a medical condition report&#10;&#10;AI-generated content may be incorrect.">
            <a:extLst>
              <a:ext uri="{FF2B5EF4-FFF2-40B4-BE49-F238E27FC236}">
                <a16:creationId xmlns:a16="http://schemas.microsoft.com/office/drawing/2014/main" id="{A73989A5-5050-BF6C-3838-2824F325D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89" y="1444952"/>
            <a:ext cx="7398130" cy="421661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DBFBBD1-EDC3-473D-8F35-1D9F33D08DBD}"/>
              </a:ext>
            </a:extLst>
          </p:cNvPr>
          <p:cNvSpPr txBox="1"/>
          <p:nvPr/>
        </p:nvSpPr>
        <p:spPr>
          <a:xfrm>
            <a:off x="217260" y="966435"/>
            <a:ext cx="6730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Clinical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833379-982D-A40D-3AB4-77D9AD39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EA4C4E-27C5-849B-83A2-8DFC39F040E8}"/>
              </a:ext>
            </a:extLst>
          </p:cNvPr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2B6C96-83A8-F9DA-6560-A9E182AEA371}"/>
              </a:ext>
            </a:extLst>
          </p:cNvPr>
          <p:cNvSpPr txBox="1"/>
          <p:nvPr/>
        </p:nvSpPr>
        <p:spPr>
          <a:xfrm>
            <a:off x="809604" y="190499"/>
            <a:ext cx="4600459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Power BI Dashboard Design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9C79F5-2F49-4A85-5F74-48122BBD43C3}"/>
              </a:ext>
            </a:extLst>
          </p:cNvPr>
          <p:cNvSpPr/>
          <p:nvPr/>
        </p:nvSpPr>
        <p:spPr>
          <a:xfrm>
            <a:off x="0" y="6381749"/>
            <a:ext cx="12191695" cy="476249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081C70E7-B8FE-9FC9-40B6-4A1A4E496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68" y="1558111"/>
            <a:ext cx="7882534" cy="44696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9F2C5D-8E88-CDA7-C6E8-10E28803037F}"/>
              </a:ext>
            </a:extLst>
          </p:cNvPr>
          <p:cNvSpPr txBox="1"/>
          <p:nvPr/>
        </p:nvSpPr>
        <p:spPr>
          <a:xfrm>
            <a:off x="442762" y="909014"/>
            <a:ext cx="1925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Financial Analysis</a:t>
            </a:r>
          </a:p>
        </p:txBody>
      </p:sp>
    </p:spTree>
    <p:extLst>
      <p:ext uri="{BB962C8B-B14F-4D97-AF65-F5344CB8AC3E}">
        <p14:creationId xmlns:p14="http://schemas.microsoft.com/office/powerpoint/2010/main" val="3346143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604" y="190499"/>
            <a:ext cx="3400339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Learnings &amp;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3457488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485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7723" y="1683397"/>
            <a:ext cx="285742" cy="1574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9209" y="1628775"/>
            <a:ext cx="86675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4D7A"/>
                </a:solidFill>
              </a:rPr>
              <a:t>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2190749"/>
            <a:ext cx="2981250" cy="12858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 Learned to use Streamlit for quick interactive web applications </a:t>
            </a:r>
            <a:r>
              <a:rPr sz="1104"/>
              <a:t>
</a:t>
            </a:r>
            <a:r>
              <a:rPr sz="1076" b="0">
                <a:solidFill>
                  <a:srgbClr val="546E7A"/>
                </a:solidFill>
              </a:rPr>
              <a:t> </a:t>
            </a:r>
            <a:r>
              <a:rPr sz="1076" b="0">
                <a:solidFill>
                  <a:srgbClr val="004D7A"/>
                </a:solidFill>
              </a:rPr>
              <a:t>Easy and effective library</a:t>
            </a:r>
            <a:r>
              <a:rPr sz="1076" b="0">
                <a:solidFill>
                  <a:srgbClr val="546E7A"/>
                </a:solidFill>
              </a:rPr>
              <a:t> for displaying medical data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2340" y="1238249"/>
            <a:ext cx="3457488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00459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3331" y="1660071"/>
            <a:ext cx="285742" cy="2041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14817" y="1628775"/>
            <a:ext cx="3714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4D7A"/>
                </a:solidFill>
              </a:rP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459" y="2190749"/>
            <a:ext cx="2981250" cy="12858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 Benefited from SQL for deep insights </a:t>
            </a:r>
            <a:r>
              <a:rPr sz="1104"/>
              <a:t>
</a:t>
            </a:r>
            <a:r>
              <a:rPr sz="1076" b="0">
                <a:solidFill>
                  <a:srgbClr val="546E7A"/>
                </a:solidFill>
              </a:rPr>
              <a:t> </a:t>
            </a:r>
            <a:r>
              <a:rPr sz="1076" b="0">
                <a:solidFill>
                  <a:srgbClr val="004D7A"/>
                </a:solidFill>
              </a:rPr>
              <a:t>Advanced queries</a:t>
            </a:r>
            <a:r>
              <a:rPr sz="1076" b="0">
                <a:solidFill>
                  <a:srgbClr val="546E7A"/>
                </a:solidFill>
              </a:rPr>
              <a:t> helped understand complex relationships between variables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7473" y="1238249"/>
            <a:ext cx="3457488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05592" y="14763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8463" y="1651323"/>
            <a:ext cx="285742" cy="2216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19949" y="1628775"/>
            <a:ext cx="162873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4D7A"/>
                </a:solidFill>
              </a:rP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592" y="2190749"/>
            <a:ext cx="2981250" cy="12858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 Used models to predict length of stay or cost </a:t>
            </a:r>
            <a:r>
              <a:rPr sz="1104"/>
              <a:t>
</a:t>
            </a:r>
            <a:r>
              <a:rPr sz="1076" b="0">
                <a:solidFill>
                  <a:srgbClr val="546E7A"/>
                </a:solidFill>
              </a:rPr>
              <a:t> </a:t>
            </a:r>
            <a:r>
              <a:rPr sz="1076" b="0">
                <a:solidFill>
                  <a:srgbClr val="004D7A"/>
                </a:solidFill>
              </a:rPr>
              <a:t>High accuracy</a:t>
            </a:r>
            <a:r>
              <a:rPr sz="1076" b="0">
                <a:solidFill>
                  <a:srgbClr val="546E7A"/>
                </a:solidFill>
              </a:rPr>
              <a:t> in predictions based on historical data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3952874"/>
            <a:ext cx="3457488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4852" y="419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723" y="4365948"/>
            <a:ext cx="285742" cy="22160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19209" y="4343400"/>
            <a:ext cx="183827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4D7A"/>
                </a:solidFill>
              </a:rPr>
              <a:t>Custom Dashboards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52" y="4905375"/>
            <a:ext cx="2981250" cy="12858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 Developed customizable dashboards </a:t>
            </a:r>
            <a:r>
              <a:rPr sz="1104"/>
              <a:t>
</a:t>
            </a:r>
            <a:r>
              <a:rPr sz="1076" b="0">
                <a:solidFill>
                  <a:srgbClr val="546E7A"/>
                </a:solidFill>
              </a:rPr>
              <a:t> </a:t>
            </a:r>
            <a:r>
              <a:rPr sz="1076" b="0">
                <a:solidFill>
                  <a:srgbClr val="004D7A"/>
                </a:solidFill>
              </a:rPr>
              <a:t>Each user</a:t>
            </a:r>
            <a:r>
              <a:rPr sz="1076" b="0">
                <a:solidFill>
                  <a:srgbClr val="546E7A"/>
                </a:solidFill>
              </a:rPr>
              <a:t> can create their own dashboard based on needs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2340" y="3952874"/>
            <a:ext cx="3457488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600459" y="419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3331" y="4354285"/>
            <a:ext cx="285742" cy="2449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14817" y="4343400"/>
            <a:ext cx="146681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4D7A"/>
                </a:solidFill>
              </a:rPr>
              <a:t>Tool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0459" y="4811060"/>
            <a:ext cx="2981250" cy="147450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546E7A"/>
                </a:solidFill>
              </a:rPr>
              <a:t> Combined SQL for analysis, </a:t>
            </a:r>
            <a:r>
              <a:rPr lang="en-US" sz="1076" dirty="0">
                <a:solidFill>
                  <a:srgbClr val="546E7A"/>
                </a:solidFill>
              </a:rPr>
              <a:t>Python for preprocessing, </a:t>
            </a:r>
            <a:r>
              <a:rPr sz="1076" b="0" dirty="0" err="1">
                <a:solidFill>
                  <a:srgbClr val="546E7A"/>
                </a:solidFill>
              </a:rPr>
              <a:t>Streamlit</a:t>
            </a:r>
            <a:r>
              <a:rPr sz="1076" b="0" dirty="0">
                <a:solidFill>
                  <a:srgbClr val="546E7A"/>
                </a:solidFill>
              </a:rPr>
              <a:t> for display, Power BI for visualizations </a:t>
            </a:r>
            <a:r>
              <a:rPr sz="1104" dirty="0"/>
              <a:t>
</a:t>
            </a:r>
            <a:r>
              <a:rPr sz="1076" b="0" dirty="0">
                <a:solidFill>
                  <a:srgbClr val="546E7A"/>
                </a:solidFill>
              </a:rPr>
              <a:t> </a:t>
            </a:r>
            <a:r>
              <a:rPr sz="1076" b="0" dirty="0">
                <a:solidFill>
                  <a:srgbClr val="004D7A"/>
                </a:solidFill>
              </a:rPr>
              <a:t>Seamless integration</a:t>
            </a:r>
            <a:r>
              <a:rPr sz="1076" b="0" dirty="0">
                <a:solidFill>
                  <a:srgbClr val="546E7A"/>
                </a:solidFill>
              </a:rPr>
              <a:t> of different technologies for healthcare data analysis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7473" y="3952874"/>
            <a:ext cx="3457488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05592" y="419099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48463" y="4398022"/>
            <a:ext cx="285742" cy="1574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19949" y="4210049"/>
            <a:ext cx="2266893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004D7A"/>
                </a:solidFill>
              </a:rPr>
              <a:t>Continuous Improvement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5592" y="4905375"/>
            <a:ext cx="2981250" cy="12858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 Learning from data to improve healthcare quality </a:t>
            </a:r>
            <a:r>
              <a:rPr sz="1104"/>
              <a:t>
</a:t>
            </a:r>
            <a:r>
              <a:rPr sz="1076" b="0">
                <a:solidFill>
                  <a:srgbClr val="546E7A"/>
                </a:solidFill>
              </a:rPr>
              <a:t> </a:t>
            </a:r>
            <a:r>
              <a:rPr sz="1076" b="0">
                <a:solidFill>
                  <a:srgbClr val="004D7A"/>
                </a:solidFill>
              </a:rPr>
              <a:t>Actionable insights</a:t>
            </a:r>
            <a:r>
              <a:rPr sz="1076" b="0">
                <a:solidFill>
                  <a:srgbClr val="546E7A"/>
                </a:solidFill>
              </a:rPr>
              <a:t> for better decision-making in healthcare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810374"/>
            <a:ext cx="12191695" cy="476249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0" y="6810374"/>
            <a:ext cx="12191695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Comprehensive Healthcare Dataset Analysis with Interactive Dashboards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9604" y="190499"/>
            <a:ext cx="5781530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Conclusion and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238249"/>
            <a:ext cx="5571985" cy="47625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714757" y="4476750"/>
            <a:ext cx="1904952" cy="1904999"/>
          </a:xfrm>
          <a:prstGeom prst="roundRect">
            <a:avLst>
              <a:gd name="adj" fmla="val 50000"/>
            </a:avLst>
          </a:prstGeom>
          <a:solidFill>
            <a:srgbClr val="004D7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0990" y="952499"/>
            <a:ext cx="1428714" cy="1428750"/>
          </a:xfrm>
          <a:prstGeom prst="roundRect">
            <a:avLst>
              <a:gd name="adj" fmla="val 50000"/>
            </a:avLst>
          </a:prstGeom>
          <a:solidFill>
            <a:srgbClr val="004D7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2476" y="1523999"/>
            <a:ext cx="666733" cy="666750"/>
          </a:xfrm>
          <a:prstGeom prst="roundRect">
            <a:avLst>
              <a:gd name="adj" fmla="val 50000"/>
            </a:avLst>
          </a:prstGeom>
          <a:solidFill>
            <a:srgbClr val="004D7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4397" y="1730265"/>
            <a:ext cx="342891" cy="2542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09704" y="1685925"/>
            <a:ext cx="131441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4D7A"/>
                </a:solidFill>
              </a:rP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428875"/>
            <a:ext cx="5000499" cy="32861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2C3E50"/>
                </a:solidFill>
              </a:rPr>
              <a:t> Healthcare data is rich with actionable insights </a:t>
            </a:r>
            <a:r>
              <a:rPr sz="1104" dirty="0"/>
              <a:t>
</a:t>
            </a:r>
            <a:r>
              <a:rPr sz="1196" b="0" dirty="0">
                <a:solidFill>
                  <a:srgbClr val="2C3E50"/>
                </a:solidFill>
              </a:rPr>
              <a:t> These analyses can be used to </a:t>
            </a:r>
            <a:r>
              <a:rPr sz="1315" b="1" dirty="0">
                <a:solidFill>
                  <a:srgbClr val="004D7A"/>
                </a:solidFill>
              </a:rPr>
              <a:t>improve quality of care</a:t>
            </a:r>
            <a:r>
              <a:rPr sz="1196" b="0" dirty="0">
                <a:solidFill>
                  <a:srgbClr val="2C3E50"/>
                </a:solidFill>
              </a:rPr>
              <a:t> and </a:t>
            </a:r>
            <a:r>
              <a:rPr sz="1315" b="1" dirty="0">
                <a:solidFill>
                  <a:srgbClr val="004D7A"/>
                </a:solidFill>
              </a:rPr>
              <a:t>reduce costs</a:t>
            </a:r>
            <a:r>
              <a:rPr sz="1196" b="0" dirty="0">
                <a:solidFill>
                  <a:srgbClr val="2C3E50"/>
                </a:solidFill>
              </a:rPr>
              <a:t> </a:t>
            </a:r>
            <a:r>
              <a:rPr sz="1104" dirty="0"/>
              <a:t>
</a:t>
            </a:r>
            <a:r>
              <a:rPr sz="1196" b="0" dirty="0">
                <a:solidFill>
                  <a:srgbClr val="2C3E50"/>
                </a:solidFill>
              </a:rPr>
              <a:t> Interactive analysis facilitates timely, informed decision-making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4461" y="1238249"/>
            <a:ext cx="5000499" cy="145732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62580" y="14763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8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0619" y="1601985"/>
            <a:ext cx="1600159" cy="2250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81690" y="1476375"/>
            <a:ext cx="390515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8080"/>
                </a:solidFill>
              </a:rPr>
              <a:t>Expand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1690" y="1838324"/>
            <a:ext cx="3905152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 Add new variables like </a:t>
            </a:r>
            <a:r>
              <a:rPr sz="1076" b="0">
                <a:solidFill>
                  <a:srgbClr val="008080"/>
                </a:solidFill>
              </a:rPr>
              <a:t>quality of life after treatment</a:t>
            </a:r>
            <a:r>
              <a:rPr sz="1076" b="0">
                <a:solidFill>
                  <a:srgbClr val="546E7A"/>
                </a:solidFill>
              </a:rPr>
              <a:t> and </a:t>
            </a:r>
            <a:r>
              <a:rPr sz="1076" b="0">
                <a:solidFill>
                  <a:srgbClr val="008080"/>
                </a:solidFill>
              </a:rPr>
              <a:t>readmission rates</a:t>
            </a:r>
            <a:r>
              <a:rPr sz="1076" b="0">
                <a:solidFill>
                  <a:srgbClr val="546E7A"/>
                </a:solidFill>
              </a:rPr>
              <a:t>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4461" y="2886075"/>
            <a:ext cx="5000499" cy="145732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62580" y="31242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8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7353" y="3249267"/>
            <a:ext cx="266693" cy="2261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81690" y="3124200"/>
            <a:ext cx="390515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 dirty="0">
                <a:solidFill>
                  <a:srgbClr val="008080"/>
                </a:solidFill>
              </a:rPr>
              <a:t>Document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1690" y="3486150"/>
            <a:ext cx="3905152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546E7A"/>
                </a:solidFill>
              </a:rPr>
              <a:t>Document entire process for other teams to benefit from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24461" y="4543425"/>
            <a:ext cx="5000499" cy="1457325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762580" y="478154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808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7353" y="4947202"/>
            <a:ext cx="266693" cy="1449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81690" y="4781549"/>
            <a:ext cx="390515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8080"/>
                </a:solidFill>
              </a:rPr>
              <a:t>Continuous Improvement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81690" y="5143500"/>
            <a:ext cx="3905152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46E7A"/>
                </a:solidFill>
              </a:rPr>
              <a:t>Apply predictive models to improve planning and resource allocation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81749"/>
            <a:ext cx="12191695" cy="476249"/>
          </a:xfrm>
          <a:prstGeom prst="rect">
            <a:avLst/>
          </a:prstGeom>
          <a:solidFill>
            <a:srgbClr val="004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835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Mohammed</dc:creator>
  <cp:keywords/>
  <dc:description>generated using python-pptx</dc:description>
  <cp:lastModifiedBy>Mohammed Ashraf Mohammed Mohammed</cp:lastModifiedBy>
  <cp:revision>5</cp:revision>
  <dcterms:created xsi:type="dcterms:W3CDTF">2013-01-27T09:14:16Z</dcterms:created>
  <dcterms:modified xsi:type="dcterms:W3CDTF">2025-12-19T09:20:39Z</dcterms:modified>
  <cp:category/>
</cp:coreProperties>
</file>